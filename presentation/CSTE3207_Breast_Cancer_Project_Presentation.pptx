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Breast Cancer Diagnosis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CSTE 3207 — End-to-End ML Project</a:t>
            </a:r>
          </a:p>
          <a:p>
            <a:r>
              <a:t>Team: [Student 1], [Student 2], [Student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Supervised learning → binary classification</a:t>
            </a:r>
          </a:p>
          <a:p>
            <a:pPr>
              <a:defRPr sz="2200"/>
            </a:pPr>
            <a:r>
              <a:t>Target: malignant vs benign tumor diagnosis</a:t>
            </a:r>
          </a:p>
          <a:p>
            <a:pPr>
              <a:defRPr sz="2200"/>
            </a:pPr>
            <a:r>
              <a:t>Goal: compare baseline and advanced models using a rigorous pipeline</a:t>
            </a:r>
          </a:p>
          <a:p>
            <a:pPr>
              <a:defRPr sz="2200"/>
            </a:pPr>
            <a:r>
              <a:t>Dataset: Breast Cancer Wisconsin (Diagnostic)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569 samples and 30 continuous predictive features</a:t>
            </a:r>
          </a:p>
          <a:p>
            <a:pPr>
              <a:defRPr sz="2200"/>
            </a:pPr>
            <a:r>
              <a:t>212 malignant and 357 benign cases</a:t>
            </a:r>
          </a:p>
          <a:p>
            <a:pPr>
              <a:defRPr sz="2200"/>
            </a:pPr>
            <a:r>
              <a:t>Features derived from digitized FNA images of breast masses</a:t>
            </a:r>
          </a:p>
          <a:p>
            <a:pPr>
              <a:defRPr sz="2200"/>
            </a:pPr>
            <a:r>
              <a:t>Public UCI dataset accessed through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Exploratory Data Analysis</a:t>
            </a:r>
          </a:p>
        </p:txBody>
      </p:sp>
      <p:pic>
        <p:nvPicPr>
          <p:cNvPr id="3" name="Picture 2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688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Feature Correlations</a:t>
            </a:r>
          </a:p>
        </p:txBody>
      </p:sp>
      <p:pic>
        <p:nvPicPr>
          <p:cNvPr id="3" name="Picture 2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8454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Correlation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80/20 stratified train-test split</a:t>
            </a:r>
          </a:p>
          <a:p>
            <a:pPr>
              <a:defRPr sz="2200"/>
            </a:pPr>
            <a:r>
              <a:t>Median imputation inside pipelines</a:t>
            </a:r>
          </a:p>
          <a:p>
            <a:pPr>
              <a:defRPr sz="2200"/>
            </a:pPr>
            <a:r>
              <a:t>StandardScaler for Logistic Regression and SVM</a:t>
            </a:r>
          </a:p>
          <a:p>
            <a:pPr>
              <a:defRPr sz="2200"/>
            </a:pPr>
            <a:r>
              <a:t>Engineered: area/perimeter, concavity/compactness, worst-radius/mean-radius ratios</a:t>
            </a:r>
          </a:p>
          <a:p>
            <a:pPr>
              <a:defRPr sz="2200"/>
            </a:pPr>
            <a:r>
              <a:t>No original missing values; imputation retained for robustness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Baseline: Dummy Classifier</a:t>
            </a:r>
          </a:p>
          <a:p>
            <a:pPr>
              <a:defRPr sz="2200"/>
            </a:pPr>
            <a:r>
              <a:t>Simple model: Logistic Regression</a:t>
            </a:r>
          </a:p>
          <a:p>
            <a:pPr>
              <a:defRPr sz="2200"/>
            </a:pPr>
            <a:r>
              <a:t>Advanced: Random Forest</a:t>
            </a:r>
          </a:p>
          <a:p>
            <a:pPr>
              <a:defRPr sz="2200"/>
            </a:pPr>
            <a:r>
              <a:t>Advanced: Support Vector Machine (RBF)</a:t>
            </a:r>
          </a:p>
          <a:p>
            <a:pPr>
              <a:defRPr sz="2200"/>
            </a:pPr>
            <a:r>
              <a:t>Hyperparameter tuning: GridSearchCV + 5-fold Stratified CV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Model Comparison</a:t>
            </a:r>
          </a:p>
        </p:txBody>
      </p:sp>
      <p:pic>
        <p:nvPicPr>
          <p:cNvPr id="3" name="Picture 2" descr="06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Held-out test-set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ROC Curves</a:t>
            </a:r>
          </a:p>
        </p:txBody>
      </p:sp>
      <p:pic>
        <p:nvPicPr>
          <p:cNvPr id="3" name="Picture 2" descr="08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73805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ROC-AUC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Error Analysis</a:t>
            </a:r>
          </a:p>
        </p:txBody>
      </p:sp>
      <p:pic>
        <p:nvPicPr>
          <p:cNvPr id="3" name="Picture 2" descr="0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82661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Confusion matrix — Logistic Regression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Feature Importance</a:t>
            </a:r>
          </a:p>
        </p:txBody>
      </p:sp>
      <p:pic>
        <p:nvPicPr>
          <p:cNvPr id="3" name="Picture 2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6457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Random Forest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Best model in this run: Logistic Regression</a:t>
            </a:r>
          </a:p>
          <a:p>
            <a:pPr>
              <a:defRPr sz="2200"/>
            </a:pPr>
            <a:r>
              <a:t>Accuracy: 0.982</a:t>
            </a:r>
          </a:p>
          <a:p>
            <a:pPr>
              <a:defRPr sz="2200"/>
            </a:pPr>
            <a:r>
              <a:t>Precision: 1.000</a:t>
            </a:r>
          </a:p>
          <a:p>
            <a:pPr>
              <a:defRPr sz="2200"/>
            </a:pPr>
            <a:r>
              <a:t>Recall: 0.952</a:t>
            </a:r>
          </a:p>
          <a:p>
            <a:pPr>
              <a:defRPr sz="2200"/>
            </a:pPr>
            <a:r>
              <a:t>F1: 0.976 | ROC-AUC: 0.996</a:t>
            </a:r>
          </a:p>
          <a:p>
            <a:pPr>
              <a:defRPr sz="2200"/>
            </a:pPr>
            <a:r>
              <a:t>Misclassified test samples: 2</a:t>
            </a:r>
          </a:p>
          <a:p>
            <a:pPr>
              <a:defRPr sz="2200"/>
            </a:pPr>
            <a:r>
              <a:t>Results are academic benchmarks, not clinical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Completed the required end-to-end ML pipeline</a:t>
            </a:r>
          </a:p>
          <a:p>
            <a:pPr>
              <a:defRPr sz="2200"/>
            </a:pPr>
            <a:r>
              <a:t>Systematic preprocessing and tuning improved model selection</a:t>
            </a:r>
          </a:p>
          <a:p>
            <a:pPr>
              <a:defRPr sz="2200"/>
            </a:pPr>
            <a:r>
              <a:t>Future: nested CV, calibration, external validation, gradient boosting/neural networks</a:t>
            </a:r>
          </a:p>
          <a:p>
            <a:pPr>
              <a:defRPr sz="2200"/>
            </a:pPr>
            <a:r>
              <a:t>Final system should not be used as a clinical diagnostic tool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UCI Machine Learning Repository — Breast Cancer Wisconsin (Diagnostic)</a:t>
            </a:r>
          </a:p>
          <a:p>
            <a:pPr>
              <a:defRPr sz="2200"/>
            </a:pPr>
            <a:r>
              <a:t>Scikit-learn documentation — load_breast_cancer</a:t>
            </a:r>
          </a:p>
          <a:p>
            <a:pPr>
              <a:defRPr sz="2200"/>
            </a:pPr>
            <a:r>
              <a:t>Agarap (2017) — ML algorithms on Wisconsin Diagnostic dataset</a:t>
            </a:r>
          </a:p>
          <a:p>
            <a:pPr>
              <a:defRPr sz="2200"/>
            </a:pPr>
            <a:r>
              <a:t>CSTE 3207 Project Guideline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